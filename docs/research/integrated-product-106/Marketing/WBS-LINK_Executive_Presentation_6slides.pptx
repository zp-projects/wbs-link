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 question: What problem does this solve?</a:t>
            </a:r>
          </a:p>
          <a:p>
            <a:r>
              <a:t>Source: governed HarbourLink July model 8126fdf573ebf6396aab468755d588165cb6f02df76b8dc687476eadf948806c.</a:t>
            </a:r>
          </a:p>
          <a:p>
            <a:r>
              <a:t>Original documentary source title: Contractor Programme. Source assertion WBS Code = 1.5.1; Source assignment -- not individually reviewed.</a:t>
            </a:r>
          </a:p>
          <a:p>
            <a:r>
              <a:t>Exact report route: ../Reports/cycle2/Integrated_Management_Report.html#F-0611c8162d</a:t>
            </a:r>
          </a:p>
          <a:p>
            <a:r>
              <a:t>Professional decisions and separate structure/reporting approvals retain their recorded scope. Payment authorization remains external. Native Office and unaided human comprehension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 question: Why does the Owner Work Breakdown Structure mediate the views?</a:t>
            </a:r>
          </a:p>
          <a:p>
            <a:r>
              <a:t>Source: governed HarbourLink July model 8126fdf573ebf6396aab468755d588165cb6f02df76b8dc687476eadf948806c.</a:t>
            </a:r>
          </a:p>
          <a:p>
            <a:r>
              <a:t>Original documentary source title: Contractor Programme. Source assertion WBS Code = 1.5.1; Source assignment -- not individually reviewed.</a:t>
            </a:r>
          </a:p>
          <a:p>
            <a:r>
              <a:t>Exact report route: ../Reports/cycle2/Integrated_Management_Report.html#F-0611c8162d</a:t>
            </a:r>
          </a:p>
          <a:p>
            <a:r>
              <a:t>Professional decisions and separate structure/reporting approvals retain their recorded scope. Payment authorization remains external. Native Office and unaided human comprehension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 question: What keeps the result accountable?</a:t>
            </a:r>
          </a:p>
          <a:p>
            <a:r>
              <a:t>Source: governed HarbourLink July model 8126fdf573ebf6396aab468755d588165cb6f02df76b8dc687476eadf948806c.</a:t>
            </a:r>
          </a:p>
          <a:p>
            <a:r>
              <a:t>Original documentary source title: Contractor Programme. Source assertion WBS Code = 1.5.1; Source assignment -- not individually reviewed.</a:t>
            </a:r>
          </a:p>
          <a:p>
            <a:r>
              <a:t>Exact report route: ../Reports/cycle2/Integrated_Management_Report.html#F-0611c8162d</a:t>
            </a:r>
          </a:p>
          <a:p>
            <a:r>
              <a:t>Professional decisions and separate structure/reporting approvals retain their recorded scope. Payment authorization remains external. Native Office and unaided human comprehension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 question: What does the actual HarbourLink evidence show?</a:t>
            </a:r>
          </a:p>
          <a:p>
            <a:r>
              <a:t>Source: governed HarbourLink July model 8126fdf573ebf6396aab468755d588165cb6f02df76b8dc687476eadf948806c.</a:t>
            </a:r>
          </a:p>
          <a:p>
            <a:r>
              <a:t>Original documentary source title: Contractor Programme. Source assertion WBS Code = 1.5.1; Source assignment -- not individually reviewed.</a:t>
            </a:r>
          </a:p>
          <a:p>
            <a:r>
              <a:t>Exact report route: ../Reports/cycle2/Integrated_Management_Report.html#F-0611c8162d</a:t>
            </a:r>
          </a:p>
          <a:p>
            <a:r>
              <a:t>Professional decisions and separate structure/reporting approvals retain their recorded scope. Payment authorization remains external. Native Office and unaided human comprehension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 question: What changed, and what remains unknown?</a:t>
            </a:r>
          </a:p>
          <a:p>
            <a:r>
              <a:t>Source: governed HarbourLink July model 8126fdf573ebf6396aab468755d588165cb6f02df76b8dc687476eadf948806c.</a:t>
            </a:r>
          </a:p>
          <a:p>
            <a:r>
              <a:t>Original documentary source title: Contractor Programme. Source assertion WBS Code = 1.5.1; Source assignment -- not individually reviewed.</a:t>
            </a:r>
          </a:p>
          <a:p>
            <a:r>
              <a:t>Exact report route: ../Reports/cycle2/Integrated_Management_Report.html#F-0611c8162d</a:t>
            </a:r>
          </a:p>
          <a:p>
            <a:r>
              <a:t>Professional decisions and separate structure/reporting approvals retain their recorded scope. Payment authorization remains external. Native Office and unaided human comprehension are not verified.</a:t>
            </a:r>
          </a:p>
          <a:p>
            <a:r>
              <a:t>July movement: 1,613 carried forward; 1 revalidated; 4 changed; 4 new; 3 retired. These are not individual source confirmations.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Buyer question: What is the next step?</a:t>
            </a:r>
          </a:p>
          <a:p>
            <a:r>
              <a:t>Source: governed HarbourLink July model 8126fdf573ebf6396aab468755d588165cb6f02df76b8dc687476eadf948806c.</a:t>
            </a:r>
          </a:p>
          <a:p>
            <a:r>
              <a:t>Original documentary source title: Contractor Programme. Source assertion WBS Code = 1.5.1; Source assignment -- not individually reviewed.</a:t>
            </a:r>
          </a:p>
          <a:p>
            <a:r>
              <a:t>Exact report route: ../Reports/cycle2/Integrated_Management_Report.html#F-0611c8162d</a:t>
            </a:r>
          </a:p>
          <a:p>
            <a:r>
              <a:t>Professional decisions and separate structure/reporting approvals retain their recorded scope. Payment authorization remains external. Native Office and unaided human comprehension are not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Reports/cycle2/Integrated_Management_Report.html#F-0611c8162d" TargetMode="Externa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B57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342900"/>
            <a:ext cx="572897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Archivo"/>
              </a:defRPr>
            </a:pPr>
            <a:r>
              <a:t>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497" y="330200"/>
            <a:ext cx="301376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73" y="342900"/>
            <a:ext cx="573963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Archivo"/>
              </a:defRPr>
            </a:pPr>
            <a:r>
              <a:t>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368300"/>
            <a:ext cx="1780159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C98F52"/>
                </a:solidFill>
                <a:latin typeface="Archivo"/>
              </a:defRPr>
            </a:pPr>
            <a:r>
              <a:t>ZP SYNERGY GROUP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939800"/>
            <a:ext cx="11226800" cy="1054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FFFFFF"/>
                </a:solidFill>
                <a:latin typeface="Archivo"/>
              </a:defRPr>
            </a:pPr>
            <a:r>
              <a:t>Month-end asks one question.</a:t>
            </a:r>
          </a:p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FFFFFF"/>
                </a:solidFill>
                <a:latin typeface="Archivo"/>
              </a:defRPr>
            </a:pPr>
            <a:r>
              <a:t>Do these records describe the same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82800"/>
            <a:ext cx="11226800" cy="355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A2A7AF"/>
                </a:solidFill>
                <a:latin typeface="Archivo"/>
              </a:defRPr>
            </a:pPr>
            <a:r>
              <a:t>Schedule, cost and package records can each be credible while leaving their scope relationships unclear.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591300"/>
            <a:ext cx="3522649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A2A7AF"/>
                </a:solidFill>
                <a:latin typeface="Archivo"/>
              </a:defRPr>
            </a:pPr>
            <a:r>
              <a:t>CONFIDENTIAL REVIEW  ·  Private alpha  ·  Synthetic HarbourLink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0800" y="6591300"/>
            <a:ext cx="220522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Archivo"/>
              </a:defRPr>
            </a:pPr>
            <a: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8000" y="3213100"/>
            <a:ext cx="3429000" cy="0"/>
          </a:xfrm>
          <a:prstGeom prst="line">
            <a:avLst/>
          </a:prstGeom>
          <a:ln w="1270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8800" y="3602566"/>
            <a:ext cx="3048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3600" y="3602566"/>
            <a:ext cx="0" cy="270934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58800" y="3873500"/>
            <a:ext cx="3048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58800" y="3602566"/>
            <a:ext cx="0" cy="270934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8800" y="3687233"/>
            <a:ext cx="3048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6533" y="3551766"/>
            <a:ext cx="0" cy="84667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5866" y="3551766"/>
            <a:ext cx="0" cy="84667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6533" y="3754966"/>
            <a:ext cx="1016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4266" y="3822700"/>
            <a:ext cx="1016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8000" y="4191000"/>
            <a:ext cx="1466265" cy="4373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FFFFFF"/>
                </a:solidFill>
                <a:latin typeface="Archivo"/>
              </a:defRPr>
            </a:pPr>
            <a:r>
              <a:t>Schedule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699000"/>
            <a:ext cx="1921484" cy="3398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A2A7AF"/>
                </a:solidFill>
                <a:latin typeface="Archivo"/>
              </a:defRPr>
            </a:pPr>
            <a:r>
              <a:t>Delivery sequence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18000" y="3213100"/>
            <a:ext cx="3429000" cy="0"/>
          </a:xfrm>
          <a:prstGeom prst="line">
            <a:avLst/>
          </a:prstGeom>
          <a:ln w="1270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368800" y="3568700"/>
            <a:ext cx="3048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73600" y="3568700"/>
            <a:ext cx="0" cy="30480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4368800" y="3873500"/>
            <a:ext cx="3048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368800" y="3568700"/>
            <a:ext cx="0" cy="30480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68800" y="3653366"/>
            <a:ext cx="304800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470400" y="3653366"/>
            <a:ext cx="0" cy="220134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38133" y="3721100"/>
            <a:ext cx="84667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38133" y="3788833"/>
            <a:ext cx="84667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11133" y="3721100"/>
            <a:ext cx="16933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11133" y="3788833"/>
            <a:ext cx="16933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18000" y="4191000"/>
            <a:ext cx="2251430" cy="4373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FFFFFF"/>
                </a:solidFill>
                <a:latin typeface="Archivo"/>
              </a:defRPr>
            </a:pPr>
            <a:r>
              <a:t>Cost / 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8000" y="4699000"/>
            <a:ext cx="1788706" cy="3398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A2A7AF"/>
                </a:solidFill>
                <a:latin typeface="Archivo"/>
              </a:defRPr>
            </a:pPr>
            <a:r>
              <a:t>Control accounts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28000" y="3213100"/>
            <a:ext cx="3429000" cy="0"/>
          </a:xfrm>
          <a:prstGeom prst="line">
            <a:avLst/>
          </a:prstGeom>
          <a:ln w="1270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46533" y="3568700"/>
            <a:ext cx="237067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83600" y="3568700"/>
            <a:ext cx="0" cy="237066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195733" y="3619500"/>
            <a:ext cx="237067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32800" y="3619500"/>
            <a:ext cx="0" cy="237066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61866" y="3670300"/>
            <a:ext cx="220134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382000" y="3670300"/>
            <a:ext cx="0" cy="220133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161866" y="3890433"/>
            <a:ext cx="220134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161866" y="3670300"/>
            <a:ext cx="0" cy="220133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12666" y="3738033"/>
            <a:ext cx="118534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212666" y="3805766"/>
            <a:ext cx="84667" cy="0"/>
          </a:xfrm>
          <a:prstGeom prst="line">
            <a:avLst/>
          </a:prstGeom>
          <a:ln w="27093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128000" y="4191000"/>
            <a:ext cx="2329713" cy="4373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FFFFFF"/>
                </a:solidFill>
                <a:latin typeface="Archivo"/>
              </a:defRPr>
            </a:pPr>
            <a:r>
              <a:t>Work Packages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28000" y="4699000"/>
            <a:ext cx="1951926" cy="3398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A2A7AF"/>
                </a:solidFill>
                <a:latin typeface="Archivo"/>
              </a:defRPr>
            </a:pPr>
            <a:r>
              <a:t>Commercial 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8000" y="5651500"/>
            <a:ext cx="11226800" cy="4373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FFFFFF"/>
                </a:solidFill>
                <a:latin typeface="Archivo"/>
              </a:defRPr>
            </a:pPr>
            <a:r>
              <a:t>Establish the relationship before drawing the management conclusion.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4800"/>
            <a:ext cx="3517519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C98F52"/>
                </a:solidFill>
                <a:latin typeface="Archivo"/>
              </a:defRPr>
            </a:pPr>
            <a:r>
              <a:t>WBS LINK  /  INDEPENDENT SOURCE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2300"/>
            <a:ext cx="6188811" cy="5024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456"/>
              </a:lnSpc>
              <a:spcAft>
                <a:spcPts val="0"/>
              </a:spcAft>
              <a:defRPr sz="2700" b="1">
                <a:solidFill>
                  <a:srgbClr val="FFFFFF"/>
                </a:solidFill>
                <a:latin typeface="Archivo"/>
              </a:defRPr>
            </a:pPr>
            <a:r>
              <a:t>Three sources. One owner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04900"/>
            <a:ext cx="7975168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0">
                <a:solidFill>
                  <a:srgbClr val="A2A7AF"/>
                </a:solidFill>
                <a:latin typeface="Archivo"/>
              </a:defRPr>
            </a:pPr>
            <a:r>
              <a:t>Owner Work Breakdown Structure (WBS): relate sources while keeping their evidence and authority distinct.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51000"/>
            <a:ext cx="3048000" cy="990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51000"/>
            <a:ext cx="38100" cy="990600"/>
          </a:xfrm>
          <a:prstGeom prst="rect">
            <a:avLst/>
          </a:prstGeom>
          <a:solidFill>
            <a:srgbClr val="C9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79450" y="2017183"/>
            <a:ext cx="2667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6150" y="2017183"/>
            <a:ext cx="0" cy="237067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79450" y="2254250"/>
            <a:ext cx="2667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79450" y="2017183"/>
            <a:ext cx="0" cy="237067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9450" y="2091266"/>
            <a:ext cx="2667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8716" y="1972733"/>
            <a:ext cx="0" cy="74083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883" y="1972733"/>
            <a:ext cx="0" cy="74083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8716" y="2150533"/>
            <a:ext cx="889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7983" y="2209800"/>
            <a:ext cx="889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93800" y="1854200"/>
            <a:ext cx="2235200" cy="3398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Archivo"/>
              </a:defRPr>
            </a:pPr>
            <a:r>
              <a:t>Schedule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3800" y="2222500"/>
            <a:ext cx="22352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A2A7AF"/>
                </a:solidFill>
                <a:latin typeface="Archivo"/>
              </a:defRPr>
            </a:pPr>
            <a:r>
              <a:t>Delivery sequence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46400"/>
            <a:ext cx="3048000" cy="990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46400"/>
            <a:ext cx="38100" cy="990600"/>
          </a:xfrm>
          <a:prstGeom prst="rect">
            <a:avLst/>
          </a:prstGeom>
          <a:solidFill>
            <a:srgbClr val="C9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79450" y="3282950"/>
            <a:ext cx="2667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46150" y="3282950"/>
            <a:ext cx="0" cy="26670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79450" y="3549650"/>
            <a:ext cx="2667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79450" y="3282950"/>
            <a:ext cx="0" cy="26670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9450" y="3357033"/>
            <a:ext cx="266700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350" y="3357033"/>
            <a:ext cx="0" cy="192617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7616" y="3416300"/>
            <a:ext cx="74084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7616" y="3475566"/>
            <a:ext cx="74084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16491" y="3416300"/>
            <a:ext cx="14817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6491" y="3475566"/>
            <a:ext cx="14817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93800" y="3149600"/>
            <a:ext cx="2235200" cy="3398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Archivo"/>
              </a:defRPr>
            </a:pPr>
            <a:r>
              <a:t>Cost / 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800" y="3517900"/>
            <a:ext cx="22352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A2A7AF"/>
                </a:solidFill>
                <a:latin typeface="Archivo"/>
              </a:defRPr>
            </a:pPr>
            <a:r>
              <a:t>Control accounts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41800"/>
            <a:ext cx="3048000" cy="9906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241800"/>
            <a:ext cx="38100" cy="990600"/>
          </a:xfrm>
          <a:prstGeom prst="rect">
            <a:avLst/>
          </a:prstGeom>
          <a:solidFill>
            <a:srgbClr val="C9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738716" y="4578350"/>
            <a:ext cx="207434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46150" y="4578350"/>
            <a:ext cx="0" cy="207433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4266" y="4622800"/>
            <a:ext cx="207434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01700" y="4622800"/>
            <a:ext cx="0" cy="207433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64633" y="4667250"/>
            <a:ext cx="192617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7250" y="4667250"/>
            <a:ext cx="0" cy="192616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64633" y="4859866"/>
            <a:ext cx="192617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64633" y="4667250"/>
            <a:ext cx="0" cy="192616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09083" y="4726516"/>
            <a:ext cx="103717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09083" y="4785783"/>
            <a:ext cx="74083" cy="0"/>
          </a:xfrm>
          <a:prstGeom prst="line">
            <a:avLst/>
          </a:prstGeom>
          <a:ln w="23706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193800" y="4445000"/>
            <a:ext cx="2235200" cy="3398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Archivo"/>
              </a:defRPr>
            </a:pPr>
            <a:r>
              <a:t>Work Packages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3800" y="4813300"/>
            <a:ext cx="22352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A2A7AF"/>
                </a:solidFill>
                <a:latin typeface="Archivo"/>
              </a:defRPr>
            </a:pPr>
            <a:r>
              <a:t>Commercial scope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505200" y="2146300"/>
            <a:ext cx="62875" cy="24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568075" y="2146540"/>
            <a:ext cx="62896" cy="71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630971" y="2147252"/>
            <a:ext cx="62916" cy="116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693887" y="2148417"/>
            <a:ext cx="62934" cy="160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756821" y="2150021"/>
            <a:ext cx="62953" cy="202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19774" y="2152047"/>
            <a:ext cx="62971" cy="243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82745" y="2154478"/>
            <a:ext cx="62988" cy="282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945733" y="2157299"/>
            <a:ext cx="63004" cy="319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008737" y="2160493"/>
            <a:ext cx="63019" cy="35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071756" y="2164045"/>
            <a:ext cx="63034" cy="389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134790" y="2167937"/>
            <a:ext cx="63049" cy="421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197839" y="2172153"/>
            <a:ext cx="63061" cy="452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260900" y="2176678"/>
            <a:ext cx="63075" cy="481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323975" y="2181495"/>
            <a:ext cx="63086" cy="509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387061" y="2186588"/>
            <a:ext cx="63098" cy="53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50159" y="2191940"/>
            <a:ext cx="63108" cy="559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513267" y="2197536"/>
            <a:ext cx="63118" cy="582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76385" y="2203359"/>
            <a:ext cx="63128" cy="603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39513" y="2209393"/>
            <a:ext cx="63136" cy="622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702649" y="2215622"/>
            <a:ext cx="63143" cy="640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765792" y="2222029"/>
            <a:ext cx="63151" cy="657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828943" y="2228599"/>
            <a:ext cx="63157" cy="671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892100" y="2235314"/>
            <a:ext cx="63162" cy="684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955262" y="2242160"/>
            <a:ext cx="63168" cy="695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018430" y="2249119"/>
            <a:ext cx="63172" cy="705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081602" y="2256175"/>
            <a:ext cx="63175" cy="7138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144777" y="2263313"/>
            <a:ext cx="63178" cy="720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207955" y="2270515"/>
            <a:ext cx="63180" cy="725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271135" y="2277766"/>
            <a:ext cx="63182" cy="728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334317" y="2285050"/>
            <a:ext cx="63183" cy="730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397500" y="2292350"/>
            <a:ext cx="63182" cy="729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460682" y="2299649"/>
            <a:ext cx="63182" cy="728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523864" y="2306933"/>
            <a:ext cx="63180" cy="725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587044" y="2314184"/>
            <a:ext cx="63178" cy="720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650222" y="2321386"/>
            <a:ext cx="63175" cy="7138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713397" y="2328524"/>
            <a:ext cx="63172" cy="705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776569" y="2335580"/>
            <a:ext cx="63168" cy="695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839737" y="2342539"/>
            <a:ext cx="63162" cy="684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902899" y="2349385"/>
            <a:ext cx="63157" cy="671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966056" y="2356100"/>
            <a:ext cx="63151" cy="657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029207" y="2362670"/>
            <a:ext cx="63143" cy="640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092350" y="2369077"/>
            <a:ext cx="63136" cy="622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155486" y="2375306"/>
            <a:ext cx="63128" cy="603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218614" y="2381340"/>
            <a:ext cx="63118" cy="582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281732" y="2387163"/>
            <a:ext cx="63108" cy="559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344840" y="2392759"/>
            <a:ext cx="63098" cy="53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407938" y="2398111"/>
            <a:ext cx="63086" cy="509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471024" y="2403204"/>
            <a:ext cx="63075" cy="481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34099" y="2408021"/>
            <a:ext cx="63061" cy="452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597160" y="2412546"/>
            <a:ext cx="63049" cy="421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60209" y="2416762"/>
            <a:ext cx="63034" cy="389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723243" y="2420654"/>
            <a:ext cx="63019" cy="35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786262" y="2424206"/>
            <a:ext cx="63004" cy="319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849266" y="2427400"/>
            <a:ext cx="62988" cy="282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912254" y="2430221"/>
            <a:ext cx="62971" cy="243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975225" y="2432652"/>
            <a:ext cx="62953" cy="202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38178" y="2434678"/>
            <a:ext cx="62934" cy="160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101112" y="2436282"/>
            <a:ext cx="62916" cy="116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164028" y="2437447"/>
            <a:ext cx="62896" cy="71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226924" y="2438159"/>
            <a:ext cx="62876" cy="24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/>
          <p:cNvSpPr/>
          <p:nvPr/>
        </p:nvSpPr>
        <p:spPr>
          <a:xfrm>
            <a:off x="7239000" y="2400300"/>
            <a:ext cx="76200" cy="76200"/>
          </a:xfrm>
          <a:prstGeom prst="rect">
            <a:avLst/>
          </a:prstGeom>
          <a:solidFill>
            <a:srgbClr val="C9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 flipV="1">
            <a:off x="3505200" y="3441699"/>
            <a:ext cx="62875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568075" y="3441699"/>
            <a:ext cx="62896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30971" y="3441700"/>
            <a:ext cx="62916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93887" y="3441700"/>
            <a:ext cx="62934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756821" y="3441700"/>
            <a:ext cx="62953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819774" y="3441700"/>
            <a:ext cx="62971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882745" y="3441699"/>
            <a:ext cx="62988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945733" y="3441699"/>
            <a:ext cx="63004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008737" y="3441700"/>
            <a:ext cx="63019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071756" y="3441700"/>
            <a:ext cx="63034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4134790" y="3441699"/>
            <a:ext cx="63049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197839" y="3441699"/>
            <a:ext cx="63061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260900" y="3441700"/>
            <a:ext cx="63075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4323975" y="3441699"/>
            <a:ext cx="63086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387061" y="3441699"/>
            <a:ext cx="63098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450159" y="3441700"/>
            <a:ext cx="6310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4513267" y="3441699"/>
            <a:ext cx="63118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576385" y="3441699"/>
            <a:ext cx="6312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639513" y="3441699"/>
            <a:ext cx="63136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702649" y="3441700"/>
            <a:ext cx="63143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765792" y="3441700"/>
            <a:ext cx="63151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828943" y="3441699"/>
            <a:ext cx="63157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892100" y="3441699"/>
            <a:ext cx="63162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4955262" y="3441699"/>
            <a:ext cx="63168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018430" y="3441699"/>
            <a:ext cx="63172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081602" y="3441700"/>
            <a:ext cx="63175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144777" y="3441700"/>
            <a:ext cx="6317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207955" y="3441700"/>
            <a:ext cx="63180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5271135" y="3441699"/>
            <a:ext cx="63182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5334317" y="3441699"/>
            <a:ext cx="63183" cy="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5397500" y="3441700"/>
            <a:ext cx="63182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460682" y="3441700"/>
            <a:ext cx="63182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5523864" y="3441700"/>
            <a:ext cx="63180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5587044" y="3441700"/>
            <a:ext cx="6317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5650222" y="3441700"/>
            <a:ext cx="63175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5713397" y="3441700"/>
            <a:ext cx="63172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5776569" y="3441700"/>
            <a:ext cx="6316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5839737" y="3441700"/>
            <a:ext cx="63162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5902899" y="3441700"/>
            <a:ext cx="63157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966056" y="3441700"/>
            <a:ext cx="63151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6029207" y="3441700"/>
            <a:ext cx="63143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092350" y="3441700"/>
            <a:ext cx="63136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155486" y="3441700"/>
            <a:ext cx="6312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218614" y="3441700"/>
            <a:ext cx="6311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281732" y="3441700"/>
            <a:ext cx="6310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344840" y="3441700"/>
            <a:ext cx="6309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6407938" y="3441700"/>
            <a:ext cx="63086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6471024" y="3441700"/>
            <a:ext cx="63075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534099" y="3441700"/>
            <a:ext cx="63061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597160" y="3441700"/>
            <a:ext cx="63049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660209" y="3441700"/>
            <a:ext cx="63034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6723243" y="3441700"/>
            <a:ext cx="63019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786262" y="3441700"/>
            <a:ext cx="63004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849266" y="3441700"/>
            <a:ext cx="62988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6912254" y="3441700"/>
            <a:ext cx="62971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6975225" y="3441700"/>
            <a:ext cx="62953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038178" y="3441700"/>
            <a:ext cx="62934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101112" y="3441700"/>
            <a:ext cx="62916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164028" y="3441700"/>
            <a:ext cx="62896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7226924" y="3441700"/>
            <a:ext cx="62876" cy="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167"/>
          <p:cNvSpPr/>
          <p:nvPr/>
        </p:nvSpPr>
        <p:spPr>
          <a:xfrm>
            <a:off x="7239000" y="3403600"/>
            <a:ext cx="76200" cy="76200"/>
          </a:xfrm>
          <a:prstGeom prst="rect">
            <a:avLst/>
          </a:prstGeom>
          <a:solidFill>
            <a:srgbClr val="C9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 flipV="1">
            <a:off x="3505200" y="4736859"/>
            <a:ext cx="62875" cy="24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3568075" y="4736147"/>
            <a:ext cx="62896" cy="71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3630971" y="4734982"/>
            <a:ext cx="62916" cy="116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3693887" y="4733378"/>
            <a:ext cx="62934" cy="160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3756821" y="4731352"/>
            <a:ext cx="62953" cy="202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3819774" y="4728921"/>
            <a:ext cx="62971" cy="243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3882745" y="4726100"/>
            <a:ext cx="62988" cy="282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3945733" y="4722906"/>
            <a:ext cx="63004" cy="319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4008737" y="4719354"/>
            <a:ext cx="63019" cy="35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4071756" y="4715462"/>
            <a:ext cx="63034" cy="389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4134790" y="4711246"/>
            <a:ext cx="63049" cy="421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4197839" y="4706721"/>
            <a:ext cx="63061" cy="452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4260900" y="4701904"/>
            <a:ext cx="63075" cy="481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4323975" y="4696811"/>
            <a:ext cx="63086" cy="509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4387061" y="4691459"/>
            <a:ext cx="63098" cy="53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4450159" y="4685863"/>
            <a:ext cx="63108" cy="559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4513267" y="4680040"/>
            <a:ext cx="63118" cy="582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4576385" y="4674006"/>
            <a:ext cx="63128" cy="603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4639513" y="4667777"/>
            <a:ext cx="63136" cy="622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4702649" y="4661370"/>
            <a:ext cx="63143" cy="640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4765792" y="4654800"/>
            <a:ext cx="63151" cy="657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4828943" y="4648085"/>
            <a:ext cx="63157" cy="671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4892100" y="4641239"/>
            <a:ext cx="63162" cy="684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4955262" y="4634280"/>
            <a:ext cx="63168" cy="695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5018430" y="4627224"/>
            <a:ext cx="63172" cy="705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5081602" y="4620086"/>
            <a:ext cx="63175" cy="7138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5144777" y="4612884"/>
            <a:ext cx="63178" cy="720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5207955" y="4605633"/>
            <a:ext cx="63180" cy="725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5271135" y="4598349"/>
            <a:ext cx="63182" cy="728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5334317" y="4591050"/>
            <a:ext cx="63183" cy="729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5397500" y="4583750"/>
            <a:ext cx="63182" cy="730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5460682" y="4576466"/>
            <a:ext cx="63182" cy="728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5523864" y="4569215"/>
            <a:ext cx="63180" cy="725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5587044" y="4562013"/>
            <a:ext cx="63178" cy="720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5650222" y="4554875"/>
            <a:ext cx="63175" cy="7138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5713397" y="4547819"/>
            <a:ext cx="63172" cy="705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5776569" y="4540860"/>
            <a:ext cx="63168" cy="695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5839737" y="4534014"/>
            <a:ext cx="63162" cy="684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5902899" y="4527299"/>
            <a:ext cx="63157" cy="671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5966056" y="4520729"/>
            <a:ext cx="63151" cy="657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6029207" y="4514322"/>
            <a:ext cx="63143" cy="640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6092350" y="4508093"/>
            <a:ext cx="63136" cy="6229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6155486" y="4502059"/>
            <a:ext cx="63128" cy="603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6218614" y="4496236"/>
            <a:ext cx="63118" cy="582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6281732" y="4490640"/>
            <a:ext cx="63108" cy="559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6344840" y="4485288"/>
            <a:ext cx="63098" cy="53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6407938" y="4480195"/>
            <a:ext cx="63086" cy="5093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6471024" y="4475378"/>
            <a:ext cx="63075" cy="4817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6534099" y="4470853"/>
            <a:ext cx="63061" cy="452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V="1">
            <a:off x="6597160" y="4466637"/>
            <a:ext cx="63049" cy="421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6660209" y="4462745"/>
            <a:ext cx="63034" cy="389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6723243" y="4459193"/>
            <a:ext cx="63019" cy="355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6786262" y="4455999"/>
            <a:ext cx="63004" cy="319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6849266" y="4453178"/>
            <a:ext cx="62988" cy="282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6912254" y="4450747"/>
            <a:ext cx="62971" cy="2431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6975225" y="4448721"/>
            <a:ext cx="62953" cy="2026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7038178" y="4447117"/>
            <a:ext cx="62934" cy="1604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7101112" y="4445952"/>
            <a:ext cx="62916" cy="1165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7164028" y="4445240"/>
            <a:ext cx="62896" cy="712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7226924" y="4445000"/>
            <a:ext cx="62876" cy="240"/>
          </a:xfrm>
          <a:prstGeom prst="line">
            <a:avLst/>
          </a:prstGeom>
          <a:ln w="20320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Rectangle 228"/>
          <p:cNvSpPr/>
          <p:nvPr/>
        </p:nvSpPr>
        <p:spPr>
          <a:xfrm>
            <a:off x="7239000" y="4406900"/>
            <a:ext cx="76200" cy="76200"/>
          </a:xfrm>
          <a:prstGeom prst="rect">
            <a:avLst/>
          </a:prstGeom>
          <a:solidFill>
            <a:srgbClr val="C98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289800" y="1651000"/>
            <a:ext cx="4445000" cy="35814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Connector 230"/>
          <p:cNvCxnSpPr/>
          <p:nvPr/>
        </p:nvCxnSpPr>
        <p:spPr>
          <a:xfrm>
            <a:off x="7679266" y="1948391"/>
            <a:ext cx="122767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7802033" y="1948391"/>
            <a:ext cx="0" cy="76729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H="1">
            <a:off x="7679266" y="2025120"/>
            <a:ext cx="122767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7679266" y="1948391"/>
            <a:ext cx="0" cy="76729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7740650" y="2025120"/>
            <a:ext cx="0" cy="61384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7617883" y="2086504"/>
            <a:ext cx="245533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7617883" y="2086504"/>
            <a:ext cx="0" cy="76729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7740650" y="2086504"/>
            <a:ext cx="0" cy="76729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863416" y="2086504"/>
            <a:ext cx="0" cy="76729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571845" y="2163233"/>
            <a:ext cx="92075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663920" y="2163233"/>
            <a:ext cx="0" cy="92075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H="1">
            <a:off x="7571845" y="2255308"/>
            <a:ext cx="92075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7571845" y="2163233"/>
            <a:ext cx="0" cy="92075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7694612" y="2163233"/>
            <a:ext cx="92075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7786687" y="2163233"/>
            <a:ext cx="0" cy="92075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H="1">
            <a:off x="7694612" y="2255308"/>
            <a:ext cx="92075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7694612" y="2163233"/>
            <a:ext cx="0" cy="92075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7817379" y="2163233"/>
            <a:ext cx="92075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7909454" y="2163233"/>
            <a:ext cx="0" cy="92075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H="1">
            <a:off x="7817379" y="2255308"/>
            <a:ext cx="92075" cy="0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7817379" y="2163233"/>
            <a:ext cx="0" cy="92075"/>
          </a:xfrm>
          <a:prstGeom prst="line">
            <a:avLst/>
          </a:prstGeom>
          <a:ln w="24553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8102600" y="1955800"/>
            <a:ext cx="1750009" cy="42113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1">
                <a:solidFill>
                  <a:srgbClr val="121A2E"/>
                </a:solidFill>
                <a:latin typeface="Archivo"/>
              </a:defRPr>
            </a:pPr>
            <a:r>
              <a:t>Owner WBS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569200" y="2552700"/>
            <a:ext cx="1898827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0">
                <a:solidFill>
                  <a:srgbClr val="565B64"/>
                </a:solidFill>
                <a:latin typeface="Archivo"/>
              </a:defRPr>
            </a:pPr>
            <a:r>
              <a:t>Shared scope reference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7734300" y="3060700"/>
            <a:ext cx="0" cy="152400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7734300" y="3060700"/>
            <a:ext cx="203200" cy="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Rectangle 255"/>
          <p:cNvSpPr/>
          <p:nvPr/>
        </p:nvSpPr>
        <p:spPr>
          <a:xfrm>
            <a:off x="7912100" y="3035300"/>
            <a:ext cx="50800" cy="50800"/>
          </a:xfrm>
          <a:prstGeom prst="rect">
            <a:avLst/>
          </a:prstGeom>
          <a:solidFill>
            <a:srgbClr val="56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039100" y="2997200"/>
            <a:ext cx="380847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121A2E"/>
                </a:solidFill>
                <a:latin typeface="Archivo"/>
              </a:defRPr>
            </a:pPr>
            <a:r>
              <a:t>1.1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470900" y="2997200"/>
            <a:ext cx="31369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121A2E"/>
                </a:solidFill>
                <a:latin typeface="Archivo"/>
              </a:defRPr>
            </a:pPr>
            <a:r>
              <a:t>Guideway and Civil</a:t>
            </a:r>
          </a:p>
        </p:txBody>
      </p:sp>
      <p:cxnSp>
        <p:nvCxnSpPr>
          <p:cNvPr id="259" name="Connector 258"/>
          <p:cNvCxnSpPr/>
          <p:nvPr/>
        </p:nvCxnSpPr>
        <p:spPr>
          <a:xfrm>
            <a:off x="7734300" y="3365500"/>
            <a:ext cx="203200" cy="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Rectangle 259"/>
          <p:cNvSpPr/>
          <p:nvPr/>
        </p:nvSpPr>
        <p:spPr>
          <a:xfrm>
            <a:off x="7912100" y="3340100"/>
            <a:ext cx="50800" cy="50800"/>
          </a:xfrm>
          <a:prstGeom prst="rect">
            <a:avLst/>
          </a:prstGeom>
          <a:solidFill>
            <a:srgbClr val="56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8039100" y="3302000"/>
            <a:ext cx="380847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121A2E"/>
                </a:solidFill>
                <a:latin typeface="Archivo"/>
              </a:defRPr>
            </a:pPr>
            <a:r>
              <a:t>1.2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470900" y="3302000"/>
            <a:ext cx="31369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121A2E"/>
                </a:solidFill>
                <a:latin typeface="Archivo"/>
              </a:defRPr>
            </a:pPr>
            <a:r>
              <a:t>Stations</a:t>
            </a:r>
          </a:p>
        </p:txBody>
      </p:sp>
      <p:cxnSp>
        <p:nvCxnSpPr>
          <p:cNvPr id="263" name="Connector 262"/>
          <p:cNvCxnSpPr/>
          <p:nvPr/>
        </p:nvCxnSpPr>
        <p:spPr>
          <a:xfrm>
            <a:off x="7734300" y="3670300"/>
            <a:ext cx="203200" cy="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Rectangle 263"/>
          <p:cNvSpPr/>
          <p:nvPr/>
        </p:nvSpPr>
        <p:spPr>
          <a:xfrm>
            <a:off x="7912100" y="3644900"/>
            <a:ext cx="50800" cy="50800"/>
          </a:xfrm>
          <a:prstGeom prst="rect">
            <a:avLst/>
          </a:prstGeom>
          <a:solidFill>
            <a:srgbClr val="56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8039100" y="3606800"/>
            <a:ext cx="380847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121A2E"/>
                </a:solidFill>
                <a:latin typeface="Archivo"/>
              </a:defRPr>
            </a:pPr>
            <a:r>
              <a:t>1.3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470900" y="3606800"/>
            <a:ext cx="31369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121A2E"/>
                </a:solidFill>
                <a:latin typeface="Archivo"/>
              </a:defRPr>
            </a:pPr>
            <a:r>
              <a:t>Systems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7734300" y="3975100"/>
            <a:ext cx="203200" cy="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Rectangle 267"/>
          <p:cNvSpPr/>
          <p:nvPr/>
        </p:nvSpPr>
        <p:spPr>
          <a:xfrm>
            <a:off x="7912100" y="3949700"/>
            <a:ext cx="50800" cy="50800"/>
          </a:xfrm>
          <a:prstGeom prst="rect">
            <a:avLst/>
          </a:prstGeom>
          <a:solidFill>
            <a:srgbClr val="56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8039100" y="3911600"/>
            <a:ext cx="3810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121A2E"/>
                </a:solidFill>
                <a:latin typeface="Archivo"/>
              </a:defRPr>
            </a:pPr>
            <a:r>
              <a:t>1.4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8470900" y="3911600"/>
            <a:ext cx="31369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121A2E"/>
                </a:solidFill>
                <a:latin typeface="Archivo"/>
              </a:defRPr>
            </a:pPr>
            <a:r>
              <a:t>Vehicles and Depot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7734300" y="4279900"/>
            <a:ext cx="203200" cy="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Rectangle 271"/>
          <p:cNvSpPr/>
          <p:nvPr/>
        </p:nvSpPr>
        <p:spPr>
          <a:xfrm>
            <a:off x="7912100" y="4254500"/>
            <a:ext cx="50800" cy="50800"/>
          </a:xfrm>
          <a:prstGeom prst="rect">
            <a:avLst/>
          </a:prstGeom>
          <a:solidFill>
            <a:srgbClr val="8F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8039100" y="4216400"/>
            <a:ext cx="380695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8F5A28"/>
                </a:solidFill>
                <a:latin typeface="Archivo"/>
              </a:defRPr>
            </a:pPr>
            <a:r>
              <a:t>1.5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470900" y="4216400"/>
            <a:ext cx="31369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121A2E"/>
                </a:solidFill>
                <a:latin typeface="Archivo"/>
              </a:defRPr>
            </a:pPr>
            <a:r>
              <a:t>Testing and Commissioning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7734300" y="4584700"/>
            <a:ext cx="203200" cy="0"/>
          </a:xfrm>
          <a:prstGeom prst="line">
            <a:avLst/>
          </a:prstGeom>
          <a:ln w="10160">
            <a:solidFill>
              <a:srgbClr val="565B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Rectangle 275"/>
          <p:cNvSpPr/>
          <p:nvPr/>
        </p:nvSpPr>
        <p:spPr>
          <a:xfrm>
            <a:off x="7912100" y="4559300"/>
            <a:ext cx="50800" cy="50800"/>
          </a:xfrm>
          <a:prstGeom prst="rect">
            <a:avLst/>
          </a:prstGeom>
          <a:solidFill>
            <a:srgbClr val="56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8039100" y="4521200"/>
            <a:ext cx="380847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121A2E"/>
                </a:solidFill>
                <a:latin typeface="Archivo"/>
              </a:defRPr>
            </a:pPr>
            <a:r>
              <a:t>1.6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470900" y="4521200"/>
            <a:ext cx="3136900" cy="25857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0">
                <a:solidFill>
                  <a:srgbClr val="121A2E"/>
                </a:solidFill>
                <a:latin typeface="Archivo"/>
              </a:defRPr>
            </a:pPr>
            <a:r>
              <a:t>Program Management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7569200" y="4940300"/>
            <a:ext cx="2262124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0">
                <a:solidFill>
                  <a:srgbClr val="565B64"/>
                </a:solidFill>
                <a:latin typeface="Archivo"/>
              </a:defRPr>
            </a:pPr>
            <a:r>
              <a:t>Reference paths are not confirmation.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457200" y="5461000"/>
            <a:ext cx="2783014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1">
                <a:solidFill>
                  <a:srgbClr val="A2A7AF"/>
                </a:solidFill>
                <a:latin typeface="Archivo"/>
              </a:defRPr>
            </a:pPr>
            <a:r>
              <a:t>RELATIONSHIP OUTCOMES REMAIN DISTINCT</a:t>
            </a:r>
          </a:p>
        </p:txBody>
      </p:sp>
      <p:cxnSp>
        <p:nvCxnSpPr>
          <p:cNvPr id="281" name="Connector 280"/>
          <p:cNvCxnSpPr/>
          <p:nvPr/>
        </p:nvCxnSpPr>
        <p:spPr>
          <a:xfrm>
            <a:off x="512233" y="5882216"/>
            <a:ext cx="13758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49816" y="5882216"/>
            <a:ext cx="82550" cy="8255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732366" y="5964766"/>
            <a:ext cx="0" cy="1926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H="1">
            <a:off x="512233" y="6157383"/>
            <a:ext cx="22013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512233" y="5882216"/>
            <a:ext cx="0" cy="27516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649816" y="5882216"/>
            <a:ext cx="0" cy="8255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649816" y="5964766"/>
            <a:ext cx="82550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567266" y="6019800"/>
            <a:ext cx="110067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567266" y="6074833"/>
            <a:ext cx="110067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567266" y="6116108"/>
            <a:ext cx="55034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965200" y="5740400"/>
            <a:ext cx="1632915" cy="3235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chivo"/>
              </a:defRPr>
            </a:pPr>
            <a:r>
              <a:t>Source-backed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965200" y="6045200"/>
            <a:ext cx="1383995" cy="2423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2A7AF"/>
                </a:solidFill>
                <a:latin typeface="Archivo"/>
              </a:defRPr>
            </a:pPr>
            <a:r>
              <a:t>Evidence preserved</a:t>
            </a:r>
          </a:p>
        </p:txBody>
      </p:sp>
      <p:cxnSp>
        <p:nvCxnSpPr>
          <p:cNvPr id="293" name="Connector 292"/>
          <p:cNvCxnSpPr/>
          <p:nvPr/>
        </p:nvCxnSpPr>
        <p:spPr>
          <a:xfrm flipH="1">
            <a:off x="4322233" y="5923491"/>
            <a:ext cx="5503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H="1">
            <a:off x="4294716" y="5923491"/>
            <a:ext cx="27517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4294716" y="5951008"/>
            <a:ext cx="0" cy="8255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4294716" y="6033558"/>
            <a:ext cx="27517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4322233" y="6061075"/>
            <a:ext cx="5503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4487333" y="5978525"/>
            <a:ext cx="5503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4542366" y="5978525"/>
            <a:ext cx="27517" cy="27516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4569883" y="6006041"/>
            <a:ext cx="0" cy="8255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H="1">
            <a:off x="4542366" y="6088591"/>
            <a:ext cx="27517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H="1">
            <a:off x="4487333" y="6116108"/>
            <a:ext cx="5503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4349750" y="5992283"/>
            <a:ext cx="27516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4487333" y="6047316"/>
            <a:ext cx="27517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4404783" y="5992283"/>
            <a:ext cx="13758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4446058" y="6047316"/>
            <a:ext cx="13758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4418541" y="5909733"/>
            <a:ext cx="0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4459816" y="6102350"/>
            <a:ext cx="0" cy="27516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/>
          <p:cNvSpPr txBox="1"/>
          <p:nvPr/>
        </p:nvSpPr>
        <p:spPr>
          <a:xfrm>
            <a:off x="4775200" y="5740400"/>
            <a:ext cx="1225702" cy="3235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chivo"/>
              </a:defRPr>
            </a:pPr>
            <a:r>
              <a:t>Gap visible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775200" y="6045200"/>
            <a:ext cx="1409141" cy="2423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2A7AF"/>
                </a:solidFill>
                <a:latin typeface="Archivo"/>
              </a:defRPr>
            </a:pPr>
            <a:r>
              <a:t>Not forced into WBS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8201025" y="5882216"/>
            <a:ext cx="178858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8379883" y="5882216"/>
            <a:ext cx="0" cy="27516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H="1">
            <a:off x="8201025" y="6157383"/>
            <a:ext cx="178858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8201025" y="5882216"/>
            <a:ext cx="0" cy="27516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8256058" y="5937250"/>
            <a:ext cx="68792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8256058" y="5992283"/>
            <a:ext cx="68792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Oval 316"/>
          <p:cNvSpPr/>
          <p:nvPr/>
        </p:nvSpPr>
        <p:spPr>
          <a:xfrm>
            <a:off x="8104716" y="5964766"/>
            <a:ext cx="82550" cy="82550"/>
          </a:xfrm>
          <a:prstGeom prst="ellipse">
            <a:avLst/>
          </a:prstGeom>
          <a:noFill/>
          <a:ln w="22013">
            <a:solidFill>
              <a:srgbClr val="C98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 flipV="1">
            <a:off x="8090958" y="6116108"/>
            <a:ext cx="0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8090958" y="6088591"/>
            <a:ext cx="27517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8118475" y="6088591"/>
            <a:ext cx="55033" cy="0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8173508" y="6088591"/>
            <a:ext cx="27517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8201025" y="6116108"/>
            <a:ext cx="0" cy="27517"/>
          </a:xfrm>
          <a:prstGeom prst="line">
            <a:avLst/>
          </a:prstGeom>
          <a:ln w="22013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8585200" y="5740400"/>
            <a:ext cx="1530908" cy="3235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chivo"/>
              </a:defRPr>
            </a:pPr>
            <a:r>
              <a:t>Human review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8585200" y="6045200"/>
            <a:ext cx="1690357" cy="2423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A2A7AF"/>
                </a:solidFill>
                <a:latin typeface="Archivo"/>
              </a:defRPr>
            </a:pPr>
            <a:r>
              <a:t>Decision scope recorded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457200" y="6629400"/>
            <a:ext cx="6160135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0">
                <a:solidFill>
                  <a:srgbClr val="A2A7AF"/>
                </a:solidFill>
                <a:latin typeface="Archivo"/>
              </a:defRPr>
            </a:pPr>
            <a:r>
              <a:t>Method illustration. Sources remain separate; no automatic confirmation, progress claim or merged dataset.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9842500" y="304800"/>
            <a:ext cx="542861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Archivo"/>
              </a:defRPr>
            </a:pPr>
            <a:r>
              <a:t>WBS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0232961" y="292100"/>
            <a:ext cx="290735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0371297" y="304800"/>
            <a:ext cx="543852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Archivo"/>
              </a:defRPr>
            </a:pPr>
            <a:r>
              <a:t>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342900"/>
            <a:ext cx="572897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497" y="330200"/>
            <a:ext cx="301376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121A2E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73" y="342900"/>
            <a:ext cx="573963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368300"/>
            <a:ext cx="1780159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8F5A28"/>
                </a:solidFill>
                <a:latin typeface="Archivo"/>
              </a:defRPr>
            </a:pPr>
            <a:r>
              <a:t>ZP SYNERGY GROUP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939800"/>
            <a:ext cx="11226800" cy="1054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What the source says is separate</a:t>
            </a:r>
          </a:p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from what was decided.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82800"/>
            <a:ext cx="11226800" cy="355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565B64"/>
                </a:solidFill>
                <a:latin typeface="Archivo"/>
              </a:defRPr>
            </a:pPr>
            <a:r>
              <a:t>Professional interpretation and whole-version approval have different scopes.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591300"/>
            <a:ext cx="3522649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565B64"/>
                </a:solidFill>
                <a:latin typeface="Archivo"/>
              </a:defRPr>
            </a:pPr>
            <a:r>
              <a:t>CONFIDENTIAL REVIEW  ·  Private alpha  ·  Synthetic HarbourLink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0800" y="6591300"/>
            <a:ext cx="220522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1">
                <a:solidFill>
                  <a:srgbClr val="121A2E"/>
                </a:solidFill>
                <a:latin typeface="Archivo"/>
              </a:defRPr>
            </a:pPr>
            <a: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2083" y="2996141"/>
            <a:ext cx="185208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7291" y="2996141"/>
            <a:ext cx="111125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8416" y="3107266"/>
            <a:ext cx="0" cy="259292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82083" y="3366558"/>
            <a:ext cx="29633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82083" y="29961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7291" y="2996141"/>
            <a:ext cx="0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7291" y="3107266"/>
            <a:ext cx="11112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6166" y="3181350"/>
            <a:ext cx="148167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6166" y="3255433"/>
            <a:ext cx="148167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6166" y="3310995"/>
            <a:ext cx="74084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8000" y="3733800"/>
            <a:ext cx="3479800" cy="42113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1">
                <a:solidFill>
                  <a:srgbClr val="121A2E"/>
                </a:solidFill>
                <a:latin typeface="Archivo"/>
              </a:defRPr>
            </a:pPr>
            <a:r>
              <a:t>Original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4279900"/>
            <a:ext cx="3352800" cy="109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Source assertions remain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inspectable. An original code is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not individual confirmation.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84687" y="2996141"/>
            <a:ext cx="240771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25458" y="29961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484687" y="3366558"/>
            <a:ext cx="240771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484687" y="29961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58770" y="3070225"/>
            <a:ext cx="9260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558770" y="3144308"/>
            <a:ext cx="9260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55041" y="3107266"/>
            <a:ext cx="111125" cy="111125"/>
          </a:xfrm>
          <a:prstGeom prst="ellipse">
            <a:avLst/>
          </a:prstGeom>
          <a:noFill/>
          <a:ln w="29633">
            <a:solidFill>
              <a:srgbClr val="8F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4336520" y="3310995"/>
            <a:ext cx="0" cy="37042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336520" y="3273954"/>
            <a:ext cx="37042" cy="3704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73562" y="3273954"/>
            <a:ext cx="7408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47645" y="3273954"/>
            <a:ext cx="37042" cy="3704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84687" y="3310995"/>
            <a:ext cx="0" cy="37042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318000" y="3733800"/>
            <a:ext cx="3479800" cy="42113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1">
                <a:solidFill>
                  <a:srgbClr val="121A2E"/>
                </a:solidFill>
                <a:latin typeface="Archivo"/>
              </a:defRPr>
            </a:pPr>
            <a:r>
              <a:t>Professional 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18000" y="4279900"/>
            <a:ext cx="3352800" cy="109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The record states who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decided, which relationships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and what uncertainty remains.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83562" y="2996141"/>
            <a:ext cx="222250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405812" y="2996141"/>
            <a:ext cx="111125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16937" y="3107266"/>
            <a:ext cx="0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5812" y="2996141"/>
            <a:ext cx="0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05812" y="3107266"/>
            <a:ext cx="11112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183562" y="3366558"/>
            <a:ext cx="5556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183562" y="29961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57645" y="3088745"/>
            <a:ext cx="74084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387291" y="3181350"/>
            <a:ext cx="129646" cy="3704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16937" y="3218391"/>
            <a:ext cx="0" cy="92604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8452114" y="3310995"/>
            <a:ext cx="64823" cy="55563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8387291" y="3310995"/>
            <a:ext cx="64823" cy="55563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387291" y="3181350"/>
            <a:ext cx="0" cy="12964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424333" y="3273954"/>
            <a:ext cx="27781" cy="2778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452114" y="3246172"/>
            <a:ext cx="37042" cy="55563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128000" y="3733800"/>
            <a:ext cx="3479800" cy="42113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1">
                <a:solidFill>
                  <a:srgbClr val="121A2E"/>
                </a:solidFill>
                <a:latin typeface="Archivo"/>
              </a:defRPr>
            </a:pPr>
            <a:r>
              <a:t>Separate approval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8000" y="4279900"/>
            <a:ext cx="3352800" cy="1092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Structure approval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reporting approval are distinct.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1900" b="0">
                <a:solidFill>
                  <a:srgbClr val="121A2E"/>
                </a:solidFill>
                <a:latin typeface="Archivo"/>
              </a:defRPr>
            </a:pPr>
            <a:r>
              <a:t>Neither authorizes payment.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08000" y="5892800"/>
            <a:ext cx="11176000" cy="0"/>
          </a:xfrm>
          <a:prstGeom prst="line">
            <a:avLst/>
          </a:prstGeom>
          <a:ln w="12700">
            <a:solidFill>
              <a:srgbClr val="EA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08000" y="6070600"/>
            <a:ext cx="6994347" cy="3235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565B64"/>
                </a:solidFill>
                <a:latin typeface="Archivo"/>
              </a:defRPr>
            </a:pPr>
            <a:r>
              <a:t>Approval of a version does not individually validate every source relationship.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342900"/>
            <a:ext cx="572897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497" y="330200"/>
            <a:ext cx="301376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121A2E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73" y="342900"/>
            <a:ext cx="573963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368300"/>
            <a:ext cx="1780159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8F5A28"/>
                </a:solidFill>
                <a:latin typeface="Archivo"/>
              </a:defRPr>
            </a:pPr>
            <a:r>
              <a:t>ZP SYNERGY GROUP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939800"/>
            <a:ext cx="11226800" cy="1054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A schedule view exists.</a:t>
            </a:r>
          </a:p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The cost relationship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82800"/>
            <a:ext cx="11226800" cy="355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565B64"/>
                </a:solidFill>
                <a:latin typeface="Archivo"/>
              </a:defRPr>
            </a:pPr>
            <a:r>
              <a:t>Testing and Commissioning needs a governed relationship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591300"/>
            <a:ext cx="3522649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565B64"/>
                </a:solidFill>
                <a:latin typeface="Archivo"/>
              </a:defRPr>
            </a:pPr>
            <a:r>
              <a:t>CONFIDENTIAL REVIEW  ·  Private alpha  ·  Synthetic HarbourLink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0800" y="6591300"/>
            <a:ext cx="220637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1">
                <a:solidFill>
                  <a:srgbClr val="121A2E"/>
                </a:solidFill>
                <a:latin typeface="Archivo"/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616200"/>
            <a:ext cx="6921500" cy="28321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400" y="2857500"/>
            <a:ext cx="1295006" cy="2423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8F5A28"/>
                </a:solidFill>
                <a:latin typeface="Archivo"/>
              </a:defRPr>
            </a:pPr>
            <a:r>
              <a:t>OWNER WBS 1.5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2666" y="2831041"/>
            <a:ext cx="97367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033" y="2831041"/>
            <a:ext cx="0" cy="60854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942666" y="2891895"/>
            <a:ext cx="97367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942666" y="2831041"/>
            <a:ext cx="0" cy="60854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91350" y="2891895"/>
            <a:ext cx="0" cy="48684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93983" y="2940579"/>
            <a:ext cx="194733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93983" y="2940579"/>
            <a:ext cx="0" cy="60854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91350" y="2940579"/>
            <a:ext cx="0" cy="60854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88716" y="2940579"/>
            <a:ext cx="0" cy="60854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7470" y="3001433"/>
            <a:ext cx="73025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30495" y="3001433"/>
            <a:ext cx="0" cy="73025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857470" y="3074458"/>
            <a:ext cx="73025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57470" y="3001433"/>
            <a:ext cx="0" cy="73025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954837" y="3001433"/>
            <a:ext cx="73025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27862" y="3001433"/>
            <a:ext cx="0" cy="73025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954837" y="3074458"/>
            <a:ext cx="73025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954837" y="3001433"/>
            <a:ext cx="0" cy="73025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52204" y="3001433"/>
            <a:ext cx="73025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125229" y="3001433"/>
            <a:ext cx="0" cy="73025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052204" y="3074458"/>
            <a:ext cx="73025" cy="0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052204" y="3001433"/>
            <a:ext cx="0" cy="73025"/>
          </a:xfrm>
          <a:prstGeom prst="line">
            <a:avLst/>
          </a:prstGeom>
          <a:ln w="1947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7400" y="3149600"/>
            <a:ext cx="3516884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1">
                <a:solidFill>
                  <a:srgbClr val="121A2E"/>
                </a:solidFill>
                <a:latin typeface="Archivo"/>
              </a:defRPr>
            </a:pPr>
            <a:r>
              <a:t>Testing and Commissioning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62400" y="3543300"/>
            <a:ext cx="0" cy="177800"/>
          </a:xfrm>
          <a:prstGeom prst="line">
            <a:avLst/>
          </a:prstGeom>
          <a:ln w="19050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71700" y="3721100"/>
            <a:ext cx="3556000" cy="0"/>
          </a:xfrm>
          <a:prstGeom prst="line">
            <a:avLst/>
          </a:prstGeom>
          <a:ln w="19050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71700" y="3721100"/>
            <a:ext cx="0" cy="215900"/>
          </a:xfrm>
          <a:prstGeom prst="line">
            <a:avLst/>
          </a:prstGeom>
          <a:ln w="19050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727700" y="3721100"/>
            <a:ext cx="0" cy="215900"/>
          </a:xfrm>
          <a:prstGeom prst="line">
            <a:avLst/>
          </a:prstGeom>
          <a:ln w="19050">
            <a:solidFill>
              <a:srgbClr val="8F5A2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87400" y="3937000"/>
            <a:ext cx="3035300" cy="130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40200" y="3937000"/>
            <a:ext cx="3035300" cy="130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0600" y="4076700"/>
            <a:ext cx="1150975" cy="7787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5632"/>
              </a:lnSpc>
              <a:spcAft>
                <a:spcPts val="0"/>
              </a:spcAft>
              <a:defRPr sz="4400" b="1">
                <a:solidFill>
                  <a:srgbClr val="121A2E"/>
                </a:solidFill>
                <a:latin typeface="Archivo"/>
              </a:defRPr>
            </a:pPr>
            <a:r>
              <a:t>180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20762" y="4863570"/>
            <a:ext cx="180975" cy="0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01737" y="4863570"/>
            <a:ext cx="0" cy="160867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20762" y="5024437"/>
            <a:ext cx="180975" cy="0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020762" y="4863570"/>
            <a:ext cx="0" cy="160867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0762" y="4913841"/>
            <a:ext cx="180975" cy="0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60979" y="4833408"/>
            <a:ext cx="0" cy="50271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161520" y="4833408"/>
            <a:ext cx="0" cy="50271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0979" y="4954058"/>
            <a:ext cx="60325" cy="0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01195" y="4994275"/>
            <a:ext cx="60325" cy="0"/>
          </a:xfrm>
          <a:prstGeom prst="line">
            <a:avLst/>
          </a:prstGeom>
          <a:ln w="16086">
            <a:solidFill>
              <a:srgbClr val="121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346200" y="4826000"/>
            <a:ext cx="1792008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0">
                <a:solidFill>
                  <a:srgbClr val="121A2E"/>
                </a:solidFill>
                <a:latin typeface="Archivo"/>
              </a:defRPr>
            </a:pPr>
            <a:r>
              <a:t>schedule relationships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06900" y="4127500"/>
            <a:ext cx="1486852" cy="4699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200"/>
              </a:lnSpc>
              <a:spcAft>
                <a:spcPts val="0"/>
              </a:spcAft>
              <a:defRPr sz="2500" b="1">
                <a:solidFill>
                  <a:srgbClr val="8F5A28"/>
                </a:solidFill>
                <a:latin typeface="Archivo"/>
              </a:defRPr>
            </a:pPr>
            <a:r>
              <a:t>ABSENT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33887" y="4637087"/>
            <a:ext cx="161925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595812" y="4637087"/>
            <a:ext cx="0" cy="161925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4433887" y="4799012"/>
            <a:ext cx="161925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33887" y="4637087"/>
            <a:ext cx="0" cy="161925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433887" y="4682066"/>
            <a:ext cx="161925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87862" y="4682066"/>
            <a:ext cx="0" cy="116946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23845" y="4718050"/>
            <a:ext cx="44980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23845" y="4754033"/>
            <a:ext cx="44980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56377" y="4718050"/>
            <a:ext cx="8995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56377" y="4754033"/>
            <a:ext cx="8995" cy="0"/>
          </a:xfrm>
          <a:prstGeom prst="line">
            <a:avLst/>
          </a:prstGeom>
          <a:ln w="1439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749800" y="4622800"/>
            <a:ext cx="1805051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0 cost relationships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06900" y="4965700"/>
            <a:ext cx="1455242" cy="2423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565B64"/>
                </a:solidFill>
                <a:latin typeface="Archivo"/>
              </a:defRPr>
            </a:pPr>
            <a:r>
              <a:t>Not a zero-cost claim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85100" y="2616200"/>
            <a:ext cx="3898900" cy="28321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64500" y="2857500"/>
            <a:ext cx="2165985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C98F52"/>
                </a:solidFill>
                <a:latin typeface="Archivo"/>
              </a:defRPr>
            </a:pPr>
            <a:r>
              <a:t>EXACT PROFESSIONAL ACTION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242675" y="2817283"/>
            <a:ext cx="151341" cy="0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394016" y="2817283"/>
            <a:ext cx="0" cy="232833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1242675" y="3050116"/>
            <a:ext cx="151341" cy="0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242675" y="2817283"/>
            <a:ext cx="0" cy="232833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289241" y="2863850"/>
            <a:ext cx="58209" cy="0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1289241" y="2910416"/>
            <a:ext cx="58209" cy="0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1161183" y="2887133"/>
            <a:ext cx="69850" cy="69850"/>
          </a:xfrm>
          <a:prstGeom prst="ellipse">
            <a:avLst/>
          </a:prstGeom>
          <a:noFill/>
          <a:ln w="18626">
            <a:solidFill>
              <a:srgbClr val="C98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 flipV="1">
            <a:off x="11149541" y="3015191"/>
            <a:ext cx="0" cy="23284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149541" y="2991908"/>
            <a:ext cx="23284" cy="23283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72825" y="2991908"/>
            <a:ext cx="46566" cy="0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219391" y="2991908"/>
            <a:ext cx="23284" cy="23283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242675" y="3015191"/>
            <a:ext cx="0" cy="23284"/>
          </a:xfrm>
          <a:prstGeom prst="line">
            <a:avLst/>
          </a:prstGeom>
          <a:ln w="18626">
            <a:solidFill>
              <a:srgbClr val="C98F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064500" y="3263900"/>
            <a:ext cx="3390900" cy="17780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Archivo"/>
              </a:defRPr>
            </a:pPr>
            <a:r>
              <a:t>Confirm whether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Archivo"/>
              </a:defRPr>
            </a:pPr>
            <a:r>
              <a:t>missing governed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Archivo"/>
              </a:defRPr>
            </a:pPr>
            <a:r>
              <a:t>relationship is expected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Archivo"/>
              </a:defRPr>
            </a:pPr>
            <a:r>
              <a:t>or requires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Archivo"/>
              </a:defRPr>
            </a:pPr>
            <a:r>
              <a:t>project-controls attention.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8000" y="5702300"/>
            <a:ext cx="7288517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0">
                <a:solidFill>
                  <a:srgbClr val="565B64"/>
                </a:solidFill>
                <a:latin typeface="Archivo"/>
              </a:defRPr>
            </a:pPr>
            <a:r>
              <a:t>Actual July source position. A coverage gap establishes neither missing work nor schedule impact.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8000" y="6045200"/>
            <a:ext cx="4948301" cy="242315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121A2E"/>
                </a:solidFill>
                <a:latin typeface="Archivo"/>
              </a:defRPr>
            </a:pPr>
            <a:r>
              <a:t>Evidence: F-0611c8162d / SCH-05-001 / original assertion: WBS Code = 1.5.1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8000" y="6299200"/>
            <a:ext cx="5188966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0">
                <a:solidFill>
                  <a:srgbClr val="565B64"/>
                </a:solidFill>
                <a:latin typeface="Archivo"/>
              </a:defRPr>
            </a:pPr>
            <a:r>
              <a:t>Source assignment is not individually reviewed. Whole-version approval remains separate.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342900"/>
            <a:ext cx="572897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497" y="330200"/>
            <a:ext cx="301376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121A2E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73" y="342900"/>
            <a:ext cx="573963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368300"/>
            <a:ext cx="1780159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8F5A28"/>
                </a:solidFill>
                <a:latin typeface="Archivo"/>
              </a:defRPr>
            </a:pPr>
            <a:r>
              <a:t>ZP SYNERGY GROUP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939800"/>
            <a:ext cx="11226800" cy="1054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July added an unresolved</a:t>
            </a:r>
          </a:p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package relationship.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82800"/>
            <a:ext cx="11226800" cy="355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565B64"/>
                </a:solidFill>
                <a:latin typeface="Archivo"/>
              </a:defRPr>
            </a:pPr>
            <a:r>
              <a:t>A reporting change calls for review. Its cause and project impact are not established.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591300"/>
            <a:ext cx="3522649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565B64"/>
                </a:solidFill>
                <a:latin typeface="Archivo"/>
              </a:defRPr>
            </a:pPr>
            <a:r>
              <a:t>CONFIDENTIAL REVIEW  ·  Private alpha  ·  Synthetic HarbourLink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0800" y="6591300"/>
            <a:ext cx="220408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1">
                <a:solidFill>
                  <a:srgbClr val="121A2E"/>
                </a:solidFill>
                <a:latin typeface="Archivo"/>
              </a:defRPr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844800"/>
            <a:ext cx="5397500" cy="22098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836083" y="3188229"/>
            <a:ext cx="61383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05391" y="3188229"/>
            <a:ext cx="30692" cy="30691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5391" y="3218920"/>
            <a:ext cx="0" cy="92075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5391" y="3310995"/>
            <a:ext cx="30692" cy="30692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083" y="3341687"/>
            <a:ext cx="61383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0233" y="3249612"/>
            <a:ext cx="61383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1616" y="3249612"/>
            <a:ext cx="30692" cy="30692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2308" y="3280304"/>
            <a:ext cx="0" cy="92075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81616" y="3372379"/>
            <a:ext cx="30692" cy="30691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20233" y="3403070"/>
            <a:ext cx="61383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6775" y="3264958"/>
            <a:ext cx="30691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0233" y="3326341"/>
            <a:ext cx="30692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28158" y="3264958"/>
            <a:ext cx="15346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4195" y="3326341"/>
            <a:ext cx="15346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3504" y="3172883"/>
            <a:ext cx="0" cy="30692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9541" y="3387725"/>
            <a:ext cx="0" cy="30691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320800" y="3149600"/>
            <a:ext cx="4368800" cy="3561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1">
                <a:solidFill>
                  <a:srgbClr val="121A2E"/>
                </a:solidFill>
                <a:latin typeface="Archivo"/>
              </a:defRPr>
            </a:pPr>
            <a:r>
              <a:t>Unresolved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400" y="3835400"/>
            <a:ext cx="1106119" cy="7462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5376"/>
              </a:lnSpc>
              <a:spcAft>
                <a:spcPts val="0"/>
              </a:spcAft>
              <a:defRPr sz="4200" b="1">
                <a:solidFill>
                  <a:srgbClr val="121A2E"/>
                </a:solidFill>
                <a:latin typeface="Archivo"/>
              </a:defRPr>
            </a:pPr>
            <a:r>
              <a:t>263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0000" y="3975100"/>
            <a:ext cx="372618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565B64"/>
                </a:solidFill>
                <a:latin typeface="Archivo"/>
              </a:defRPr>
            </a:pPr>
            <a:r>
              <a:t>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7400" y="3835400"/>
            <a:ext cx="1106652" cy="7462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5376"/>
              </a:lnSpc>
              <a:spcAft>
                <a:spcPts val="0"/>
              </a:spcAft>
              <a:defRPr sz="4200" b="1">
                <a:solidFill>
                  <a:srgbClr val="121A2E"/>
                </a:solidFill>
                <a:latin typeface="Archivo"/>
              </a:defRPr>
            </a:pPr>
            <a:r>
              <a:t>264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6500" y="2844800"/>
            <a:ext cx="5397500" cy="2209800"/>
          </a:xfrm>
          <a:prstGeom prst="rect">
            <a:avLst/>
          </a:prstGeom>
          <a:solidFill>
            <a:srgbClr val="F5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660620" y="3157537"/>
            <a:ext cx="214842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75462" y="3157537"/>
            <a:ext cx="0" cy="214842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14583" y="3203575"/>
            <a:ext cx="214842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829425" y="3203575"/>
            <a:ext cx="0" cy="214841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891" y="3249612"/>
            <a:ext cx="199496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783387" y="3249612"/>
            <a:ext cx="0" cy="199496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6583891" y="3449108"/>
            <a:ext cx="199496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583891" y="3249612"/>
            <a:ext cx="0" cy="199496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629929" y="3310995"/>
            <a:ext cx="107421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629929" y="3372379"/>
            <a:ext cx="76729" cy="0"/>
          </a:xfrm>
          <a:prstGeom prst="line">
            <a:avLst/>
          </a:prstGeom>
          <a:ln w="2455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99300" y="3149600"/>
            <a:ext cx="4368800" cy="3561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1">
                <a:solidFill>
                  <a:srgbClr val="121A2E"/>
                </a:solidFill>
                <a:latin typeface="Archivo"/>
              </a:defRPr>
            </a:pPr>
            <a:r>
              <a:t>Unresolved package relationships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900" y="3835400"/>
            <a:ext cx="469773" cy="7462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5376"/>
              </a:lnSpc>
              <a:spcAft>
                <a:spcPts val="0"/>
              </a:spcAft>
              <a:defRPr sz="4200" b="1">
                <a:solidFill>
                  <a:srgbClr val="121A2E"/>
                </a:solidFill>
                <a:latin typeface="Archivo"/>
              </a:defRPr>
            </a:pPr>
            <a: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8500" y="3975100"/>
            <a:ext cx="372618" cy="3886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565B64"/>
                </a:solidFill>
                <a:latin typeface="Archivo"/>
              </a:defRPr>
            </a:pPr>
            <a:r>
              <a:t>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5900" y="3835400"/>
            <a:ext cx="470306" cy="74625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5376"/>
              </a:lnSpc>
              <a:spcAft>
                <a:spcPts val="0"/>
              </a:spcAft>
              <a:defRPr sz="4200" b="1">
                <a:solidFill>
                  <a:srgbClr val="121A2E"/>
                </a:solidFill>
                <a:latin typeface="Archivo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8000" y="5397500"/>
            <a:ext cx="11226800" cy="3561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1">
                <a:solidFill>
                  <a:srgbClr val="121A2E"/>
                </a:solidFill>
                <a:latin typeface="Archivo"/>
              </a:defRPr>
            </a:pPr>
            <a:r>
              <a:t>The same two work-area gaps remain. Program Management cost relationships: 80 to 79.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000" y="5943600"/>
            <a:ext cx="11226800" cy="27482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0">
                <a:solidFill>
                  <a:srgbClr val="565B64"/>
                </a:solidFill>
                <a:latin typeface="Archivo"/>
              </a:defRPr>
            </a:pPr>
            <a:r>
              <a:t>1,622 current relationships in both cycles. July: 3 retired historical versions; 1,625 versions in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2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8000" y="342900"/>
            <a:ext cx="572897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WBS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497" y="330200"/>
            <a:ext cx="301376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121A2E"/>
                </a:solidFill>
                <a:latin typeface="DejaVu Sans"/>
              </a:defRPr>
            </a:pPr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73" y="342900"/>
            <a:ext cx="573963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1">
                <a:solidFill>
                  <a:srgbClr val="121A2E"/>
                </a:solidFill>
                <a:latin typeface="Archivo"/>
              </a:defRPr>
            </a:pPr>
            <a:r>
              <a:t>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368300"/>
            <a:ext cx="1780159" cy="2260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280"/>
              </a:lnSpc>
              <a:spcAft>
                <a:spcPts val="0"/>
              </a:spcAft>
              <a:defRPr sz="1000" b="1">
                <a:solidFill>
                  <a:srgbClr val="8F5A28"/>
                </a:solidFill>
                <a:latin typeface="Archivo"/>
              </a:defRPr>
            </a:pPr>
            <a:r>
              <a:t>ZP SYNERGY GROUP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939800"/>
            <a:ext cx="11226800" cy="10541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Follow one finding.</a:t>
            </a:r>
          </a:p>
          <a:p>
            <a:pPr>
              <a:lnSpc>
                <a:spcPts val="3900"/>
              </a:lnSpc>
              <a:spcAft>
                <a:spcPts val="0"/>
              </a:spcAft>
              <a:defRPr sz="3500" b="1">
                <a:solidFill>
                  <a:srgbClr val="121A2E"/>
                </a:solidFill>
                <a:latin typeface="Archivo"/>
              </a:defRPr>
            </a:pPr>
            <a:r>
              <a:t>Then test your own judgement.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82800"/>
            <a:ext cx="11226800" cy="355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565B64"/>
                </a:solidFill>
                <a:latin typeface="Archivo"/>
              </a:defRPr>
            </a:pPr>
            <a:r>
              <a:t>Read the recorded July example before making independent synthetic practice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591300"/>
            <a:ext cx="3522649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0">
                <a:solidFill>
                  <a:srgbClr val="565B64"/>
                </a:solidFill>
                <a:latin typeface="Archivo"/>
              </a:defRPr>
            </a:pPr>
            <a:r>
              <a:t>CONFIDENTIAL REVIEW  ·  Private alpha  ·  Synthetic HarbourLink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0800" y="6591300"/>
            <a:ext cx="220522" cy="2098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152"/>
              </a:lnSpc>
              <a:spcAft>
                <a:spcPts val="0"/>
              </a:spcAft>
              <a:defRPr sz="900" b="1">
                <a:solidFill>
                  <a:srgbClr val="121A2E"/>
                </a:solidFill>
                <a:latin typeface="Archivo"/>
              </a:defRPr>
            </a:pPr>
            <a:r>
              <a:t>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8000" y="3200400"/>
            <a:ext cx="2413000" cy="0"/>
          </a:xfrm>
          <a:prstGeom prst="line">
            <a:avLst/>
          </a:prstGeom>
          <a:ln w="12700">
            <a:solidFill>
              <a:srgbClr val="EA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3562" y="3542241"/>
            <a:ext cx="33337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6937" y="35422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63562" y="3912658"/>
            <a:ext cx="33337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3562" y="35422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37645" y="3616325"/>
            <a:ext cx="185209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7645" y="3690408"/>
            <a:ext cx="185209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7645" y="3764491"/>
            <a:ext cx="74084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11729" y="3764491"/>
            <a:ext cx="0" cy="74084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37645" y="3838575"/>
            <a:ext cx="74084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7645" y="3764491"/>
            <a:ext cx="0" cy="74084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7291" y="3764491"/>
            <a:ext cx="5556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7291" y="3838575"/>
            <a:ext cx="5556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8000" y="4254500"/>
            <a:ext cx="2463800" cy="7239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21A2E"/>
                </a:solidFill>
                <a:latin typeface="Archivo"/>
              </a:defRPr>
            </a:pPr>
            <a:r>
              <a:t>Finding + exact</a:t>
            </a:r>
          </a:p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21A2E"/>
                </a:solidFill>
                <a:latin typeface="Archivo"/>
              </a:defRPr>
            </a:pPr>
            <a:r>
              <a:t>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65500" y="3200400"/>
            <a:ext cx="2413000" cy="0"/>
          </a:xfrm>
          <a:prstGeom prst="line">
            <a:avLst/>
          </a:prstGeom>
          <a:ln w="12700">
            <a:solidFill>
              <a:srgbClr val="EA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39583" y="3542241"/>
            <a:ext cx="185208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624791" y="3542241"/>
            <a:ext cx="111125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35916" y="3653366"/>
            <a:ext cx="0" cy="259292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439583" y="3912658"/>
            <a:ext cx="29633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439583" y="35422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24791" y="3542241"/>
            <a:ext cx="0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24791" y="3653366"/>
            <a:ext cx="11112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513666" y="3727450"/>
            <a:ext cx="148167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13666" y="3801533"/>
            <a:ext cx="148167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13666" y="3857095"/>
            <a:ext cx="74084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365500" y="4254500"/>
            <a:ext cx="2463800" cy="3937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21A2E"/>
                </a:solidFill>
                <a:latin typeface="Archivo"/>
              </a:defRPr>
            </a:pPr>
            <a:r>
              <a:t>Original source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23000" y="3200400"/>
            <a:ext cx="2413000" cy="0"/>
          </a:xfrm>
          <a:prstGeom prst="line">
            <a:avLst/>
          </a:prstGeom>
          <a:ln w="12700">
            <a:solidFill>
              <a:srgbClr val="EA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89687" y="3542241"/>
            <a:ext cx="240771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30458" y="35422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6389687" y="3912658"/>
            <a:ext cx="240771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389687" y="35422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463770" y="3616325"/>
            <a:ext cx="9260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463770" y="3690408"/>
            <a:ext cx="9260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260041" y="3653366"/>
            <a:ext cx="111125" cy="111125"/>
          </a:xfrm>
          <a:prstGeom prst="ellipse">
            <a:avLst/>
          </a:prstGeom>
          <a:noFill/>
          <a:ln w="29633">
            <a:solidFill>
              <a:srgbClr val="8F5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6241520" y="3857095"/>
            <a:ext cx="0" cy="37042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241520" y="3820054"/>
            <a:ext cx="37042" cy="3704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278562" y="3820054"/>
            <a:ext cx="7408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52645" y="3820054"/>
            <a:ext cx="37042" cy="3704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389687" y="3857095"/>
            <a:ext cx="0" cy="37042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23000" y="4254500"/>
            <a:ext cx="2463800" cy="3937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21A2E"/>
                </a:solidFill>
                <a:latin typeface="Archivo"/>
              </a:defRPr>
            </a:pPr>
            <a:r>
              <a:t>Decision scope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080500" y="3200400"/>
            <a:ext cx="2413000" cy="0"/>
          </a:xfrm>
          <a:prstGeom prst="line">
            <a:avLst/>
          </a:prstGeom>
          <a:ln w="12700">
            <a:solidFill>
              <a:srgbClr val="EAE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136062" y="3542241"/>
            <a:ext cx="222250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312" y="3542241"/>
            <a:ext cx="111125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69437" y="3653366"/>
            <a:ext cx="0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58312" y="3542241"/>
            <a:ext cx="0" cy="11112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58312" y="3653366"/>
            <a:ext cx="111125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9136062" y="3912658"/>
            <a:ext cx="55563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36062" y="3542241"/>
            <a:ext cx="0" cy="370417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10145" y="3634845"/>
            <a:ext cx="74084" cy="0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339791" y="3727450"/>
            <a:ext cx="129646" cy="3704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469437" y="3764491"/>
            <a:ext cx="0" cy="92604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9404614" y="3857095"/>
            <a:ext cx="64823" cy="55563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339791" y="3857095"/>
            <a:ext cx="64823" cy="55563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39791" y="3727450"/>
            <a:ext cx="0" cy="129645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376833" y="3820054"/>
            <a:ext cx="27781" cy="27781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404614" y="3792272"/>
            <a:ext cx="37042" cy="55563"/>
          </a:xfrm>
          <a:prstGeom prst="line">
            <a:avLst/>
          </a:prstGeom>
          <a:ln w="29633">
            <a:solidFill>
              <a:srgbClr val="8F5A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080500" y="4254500"/>
            <a:ext cx="2463800" cy="3937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21A2E"/>
                </a:solidFill>
                <a:latin typeface="Archivo"/>
              </a:defRPr>
            </a:pPr>
            <a:r>
              <a:t>Separate approval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8000" y="5207000"/>
            <a:ext cx="6629400" cy="711200"/>
          </a:xfrm>
          <a:prstGeom prst="rect">
            <a:avLst/>
          </a:prstGeom>
          <a:solidFill>
            <a:srgbClr val="8F5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>
            <a:hlinkClick r:id="rId2"/>
          </p:cNvPr>
          <p:cNvSpPr txBox="1"/>
          <p:nvPr/>
        </p:nvSpPr>
        <p:spPr>
          <a:xfrm>
            <a:off x="787400" y="5422900"/>
            <a:ext cx="4434535" cy="4048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FFFFFF"/>
                </a:solidFill>
                <a:latin typeface="Archivo"/>
              </a:defRPr>
            </a:pPr>
            <a:r>
              <a:t>Read the July HarbourLink finding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8000" y="6159500"/>
            <a:ext cx="6479590" cy="29108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Aft>
                <a:spcPts val="0"/>
              </a:spcAft>
              <a:defRPr sz="1400" b="0">
                <a:solidFill>
                  <a:srgbClr val="565B64"/>
                </a:solidFill>
                <a:latin typeface="Archivo"/>
              </a:defRPr>
            </a:pPr>
            <a:r>
              <a:t>Recorded report and “Try the app” are different journeys. Use synthetic data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